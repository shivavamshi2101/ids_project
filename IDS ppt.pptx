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291840" cy="685800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731520"/>
            <a:ext cx="1645920" cy="1645920"/>
          </a:xfrm>
          <a:prstGeom prst="rect">
            <a:avLst/>
          </a:prstGeom>
          <a:solidFill>
            <a:srgbClr val="EFA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448056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64040" y="2514600"/>
            <a:ext cx="1005840" cy="1005840"/>
          </a:xfrm>
          <a:prstGeom prst="round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523744"/>
            <a:ext cx="1005840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2F3F4"/>
                </a:solidFill>
                <a:latin typeface="Aptos"/>
              </a:defRPr>
            </a:pPr>
            <a:r>
              <a:t>INTRODUCTION TO DATA SCIENCE (IDS)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Predicting Term Deposit</a:t>
            </a:r>
            <a:br/>
            <a:r>
              <a:t>Subscriptions Using Machine Learning in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7223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E1E4"/>
                </a:solidFill>
                <a:latin typeface="Aptos"/>
              </a:defRPr>
            </a:pPr>
            <a:r>
              <a:t>A Bank Marketing Analytics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94760"/>
            <a:ext cx="1463040" cy="347472"/>
          </a:xfrm>
          <a:prstGeom prst="roundRect">
            <a:avLst/>
          </a:prstGeom>
          <a:solidFill>
            <a:srgbClr val="E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130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B2545"/>
                </a:solidFill>
                <a:latin typeface="Aptos"/>
              </a:defRPr>
            </a:pPr>
            <a:r>
              <a:t>R / RStudio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67712" y="3794760"/>
            <a:ext cx="1874519" cy="347472"/>
          </a:xfrm>
          <a:prstGeom prst="round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381304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B2545"/>
                </a:solidFill>
                <a:latin typeface="Aptos"/>
              </a:defRPr>
            </a:pPr>
            <a:r>
              <a:t>UCI Bank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0916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Project Review • Review-1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6E1E8"/>
                </a:solidFill>
                <a:latin typeface="Aptos"/>
              </a:defRPr>
            </a:pPr>
            <a:r>
              <a:t>Team: [Names &amp; Roll Nos.]</a:t>
            </a:r>
            <a:br/>
            <a:r>
              <a:t>CBIT • Department of AI &amp; DS • Academic Year 2024–2028</a:t>
            </a:r>
            <a:br/>
            <a:r>
              <a:t>Guide: [Faculty Name]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62636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B2545"/>
                </a:solidFill>
                <a:latin typeface="Aptos"/>
              </a:defRPr>
            </a:pPr>
            <a:r>
              <a:t>Data → Model →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Introduction: From Bank Calls to Predictive Targeting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508760"/>
            <a:ext cx="530352" cy="530352"/>
          </a:xfrm>
          <a:prstGeom prst="ellipse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17904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4884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B2545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420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5B6975"/>
                </a:solidFill>
                <a:latin typeface="Aptos"/>
              </a:defRPr>
            </a:pPr>
            <a:r>
              <a:t>Profile + financial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1773936"/>
            <a:ext cx="41148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34640" y="1508760"/>
            <a:ext cx="530352" cy="530352"/>
          </a:xfrm>
          <a:prstGeom prst="ellipse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517904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14884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B2545"/>
                </a:solidFill>
                <a:latin typeface="Aptos"/>
              </a:defRPr>
            </a:pPr>
            <a:r>
              <a:t>CAMPAIGN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5420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5B6975"/>
                </a:solidFill>
                <a:latin typeface="Aptos"/>
              </a:defRPr>
            </a:pPr>
            <a:r>
              <a:t>Phone contact + history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51960" y="1773936"/>
            <a:ext cx="41148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074920" y="1508760"/>
            <a:ext cx="530352" cy="530352"/>
          </a:xfrm>
          <a:prstGeom prst="ellipse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517904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14884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B2545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5420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5B6975"/>
                </a:solidFill>
                <a:latin typeface="Aptos"/>
              </a:defRPr>
            </a:pPr>
            <a:r>
              <a:t>Past yes/no outcomes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92240" y="1773936"/>
            <a:ext cx="41148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5200" y="1508760"/>
            <a:ext cx="530352" cy="530352"/>
          </a:xfrm>
          <a:prstGeom prst="ellipse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517904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14884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B2545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25420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5B6975"/>
                </a:solidFill>
                <a:latin typeface="Aptos"/>
              </a:defRPr>
            </a:pPr>
            <a:r>
              <a:t>Learn patterns in 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32520" y="1773936"/>
            <a:ext cx="41148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555480" y="1508760"/>
            <a:ext cx="530352" cy="530352"/>
          </a:xfrm>
          <a:prstGeom prst="ellipse">
            <a:avLst/>
          </a:prstGeom>
          <a:solidFill>
            <a:srgbClr val="EFA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1517904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214884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B2545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25420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5B6975"/>
                </a:solidFill>
                <a:latin typeface="Aptos"/>
              </a:defRPr>
            </a:pPr>
            <a:r>
              <a:t>Prioritise prospects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657600"/>
            <a:ext cx="5212080" cy="164592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657600"/>
            <a:ext cx="64008" cy="16459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3767328"/>
            <a:ext cx="4919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Why term-deposit prediction?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4133087"/>
            <a:ext cx="4919472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Mass calling consumes agent time and money while only a small fraction of customers subscribe. The model aims to rank customers by likelihood.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657600"/>
            <a:ext cx="5303520" cy="164592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3657600"/>
            <a:ext cx="64008" cy="16459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767328"/>
            <a:ext cx="5010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What are we predicting?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4133087"/>
            <a:ext cx="5010912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A binary outcome: y = yes (subscribes) or no (does not subscribe). RStudio is used for the full data-science workflow.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Problem Statement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3808B"/>
                </a:solidFill>
                <a:latin typeface="Aptos"/>
              </a:defRPr>
            </a:pPr>
            <a:r>
              <a:t>THE BUSINESS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566160" cy="56692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3566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Customers contacted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505456"/>
            <a:ext cx="0" cy="219456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25880" y="2743200"/>
            <a:ext cx="2560320" cy="566928"/>
          </a:xfrm>
          <a:prstGeom prst="round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798064"/>
            <a:ext cx="2560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Interested prospects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3328416"/>
            <a:ext cx="0" cy="219456"/>
          </a:xfrm>
          <a:prstGeom prst="line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43100" y="3566160"/>
            <a:ext cx="1325880" cy="566928"/>
          </a:xfrm>
          <a:prstGeom prst="roundRect">
            <a:avLst/>
          </a:prstGeom>
          <a:solidFill>
            <a:srgbClr val="EFA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3100" y="3621024"/>
            <a:ext cx="1325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B2545"/>
                </a:solidFill>
                <a:latin typeface="Aptos"/>
              </a:defRPr>
            </a:pPr>
            <a:r>
              <a:t>Subscribers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232D37"/>
                </a:solidFill>
                <a:latin typeface="Aptos"/>
              </a:defRPr>
            </a:pPr>
            <a:r>
              <a:t>Goal: focus marketing effort on customers with higher predicted subscription probability.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417320"/>
            <a:ext cx="2971800" cy="192024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417320"/>
            <a:ext cx="64008" cy="192024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1527048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Formal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1892808"/>
            <a:ext cx="2679192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Given demographic, financial and campaign attributes, build a binary classification model in R that predicts y = yes/no.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417320"/>
            <a:ext cx="2971800" cy="192024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417320"/>
            <a:ext cx="64008" cy="192024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1527048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1892808"/>
            <a:ext cx="2679192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Data analysis • preprocessing • EDA • model building • comparison • evaluation in 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3611880"/>
            <a:ext cx="2971800" cy="1600200"/>
          </a:xfrm>
          <a:prstGeom prst="roundRect">
            <a:avLst/>
          </a:prstGeom>
          <a:solidFill>
            <a:srgbClr val="FAF4EE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0600" y="3611880"/>
            <a:ext cx="64008" cy="1600200"/>
          </a:xfrm>
          <a:prstGeom prst="rect">
            <a:avLst/>
          </a:prstGeom>
          <a:solidFill>
            <a:srgbClr val="EFA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721608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4087368"/>
            <a:ext cx="2679192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Real-time banking deployment, live CRM integration and customer-level financial advice.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611880"/>
            <a:ext cx="297180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3611880"/>
            <a:ext cx="64008" cy="160020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5592" y="3721608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4087368"/>
            <a:ext cx="2679192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“Will this customer subscribe to a term deposit?”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5"/>
                </a:solidFill>
                <a:latin typeface="Aptos"/>
              </a:defRPr>
            </a:pPr>
            <a:r>
              <a:t>Grouped as Data → Model →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97180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27048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01  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92808"/>
            <a:ext cx="26791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Study structure and quality of historical bank-marketing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417320"/>
            <a:ext cx="2971800" cy="141732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141732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527048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02  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1892808"/>
            <a:ext cx="26791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Handle unknown values, duplicates, outliers, encoding and class imbalance.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417320"/>
            <a:ext cx="297180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41732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527048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03  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1892808"/>
            <a:ext cx="26791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Use EDA to identify factors associated with subscription.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46120"/>
            <a:ext cx="2971800" cy="141732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24612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355848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04 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721608"/>
            <a:ext cx="26791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Build Logistic Regression, Decision Tree and Random Forest in 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3246120"/>
            <a:ext cx="297180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9080" y="324612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2" y="3355848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05  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3721608"/>
            <a:ext cx="26791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Compare Precision, Recall, F1-score and ROC-AUC—not accuracy alone.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3246120"/>
            <a:ext cx="2971800" cy="141732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324612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6952" y="3355848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06  Recommend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3721608"/>
            <a:ext cx="26791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Select the best model and translate predictions into marketing actions.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Dataset: UCI Bank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5"/>
                </a:solidFill>
                <a:latin typeface="Aptos"/>
              </a:defRPr>
            </a:pPr>
            <a:r>
              <a:t>Version and exact size must be confirmed in RStudio before final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657600" cy="96012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9601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35607"/>
            <a:ext cx="3364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336499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UCI Machine Learning Repository — Bank Marketing dataset (Moro, Cortez &amp; Rita, 2014).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68880"/>
            <a:ext cx="3657600" cy="96012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468880"/>
            <a:ext cx="64008" cy="9601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578608"/>
            <a:ext cx="3364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Planned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944368"/>
            <a:ext cx="336499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bank-full.csv is the reference version in the source document. Confirm the file actually used.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3657600" cy="96012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611880"/>
            <a:ext cx="64008" cy="9601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21608"/>
            <a:ext cx="3364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087368"/>
            <a:ext cx="336499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y = yes / no — whether the customer subscribed to the term deposit.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754880"/>
            <a:ext cx="3657600" cy="960120"/>
          </a:xfrm>
          <a:prstGeom prst="roundRect">
            <a:avLst/>
          </a:prstGeom>
          <a:solidFill>
            <a:srgbClr val="FAF4EE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754880"/>
            <a:ext cx="64008" cy="960120"/>
          </a:xfrm>
          <a:prstGeom prst="rect">
            <a:avLst/>
          </a:prstGeom>
          <a:solidFill>
            <a:srgbClr val="EFA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864608"/>
            <a:ext cx="3364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Important 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5230368"/>
            <a:ext cx="336499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The “yes” class is a minority; exact class ratio will be calculated in R with prop.table(table(df$y)).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26280" y="1325880"/>
          <a:ext cx="70866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557784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Group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Important variables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Customer profile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age, job, marital, education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Financial status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default, balance, housing, loan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Current campaign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contact, day, month, duration, campaign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Previous campaign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pdays, previous, poutcome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y (term-deposit subscription)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4526280" y="4983480"/>
            <a:ext cx="7086600" cy="868680"/>
          </a:xfrm>
          <a:prstGeom prst="roundRect">
            <a:avLst/>
          </a:prstGeom>
          <a:solidFill>
            <a:srgbClr val="FAF4EE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4983480"/>
            <a:ext cx="64008" cy="868680"/>
          </a:xfrm>
          <a:prstGeom prst="rect">
            <a:avLst/>
          </a:prstGeom>
          <a:solidFill>
            <a:srgbClr val="B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5093208"/>
            <a:ext cx="6793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Model-validity note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5458968"/>
            <a:ext cx="6793992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32D37"/>
                </a:solidFill>
                <a:latin typeface="Aptos"/>
              </a:defRPr>
            </a:pPr>
            <a:r>
              <a:t>duration is known only after the call. For realistic pre-call prediction, exclude it; otherwise state that the model is a benchmark.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Data Preparation in RStudio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5"/>
                </a:solidFill>
                <a:latin typeface="Aptos"/>
              </a:defRPr>
            </a:pPr>
            <a:r>
              <a:t>Raw CSV → clean, consistent, model-ready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337560" cy="1298448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64008" cy="129844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27048"/>
            <a:ext cx="30449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1 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92808"/>
            <a:ext cx="304495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read.csv(..., sep=';')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37560" cy="1298448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64008" cy="129844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527048"/>
            <a:ext cx="30449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2  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892808"/>
            <a:ext cx="304495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str() • dim() • summary()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417320"/>
            <a:ext cx="3337560" cy="1298448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417320"/>
            <a:ext cx="64008" cy="129844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527048"/>
            <a:ext cx="30449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3 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1892808"/>
            <a:ext cx="304495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unknown • duplicates •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108960"/>
            <a:ext cx="3337560" cy="1298448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108960"/>
            <a:ext cx="64008" cy="129844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218688"/>
            <a:ext cx="30449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4  PREPARE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3584448"/>
            <a:ext cx="304495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factors • outliers • encoding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108960"/>
            <a:ext cx="3337560" cy="1298448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108960"/>
            <a:ext cx="64008" cy="129844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218688"/>
            <a:ext cx="30449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5  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584448"/>
            <a:ext cx="304495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stratified split / training-only resampling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108960"/>
            <a:ext cx="3337560" cy="1298448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3108960"/>
            <a:ext cx="64008" cy="129844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3218688"/>
            <a:ext cx="30449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6 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3584448"/>
            <a:ext cx="304495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createDataPartition()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983480"/>
            <a:ext cx="11018520" cy="9144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138928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Consolas"/>
              </a:defRPr>
            </a:pPr>
            <a:r>
              <a:t># RStudio preprocessing checkpoints</a:t>
            </a:r>
            <a:br/>
            <a:r>
              <a:t>df &lt;- read.csv("bank-full.csv", sep=";")</a:t>
            </a:r>
            <a:br/>
            <a:r>
              <a:t>str(df); summary(df); sum(duplicated(df))</a:t>
            </a:r>
            <a:br/>
            <a:r>
              <a:t>idx &lt;- caret::createDataPartition(df$y, p=0.70, list=FALSE)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Exploratory Data Analysis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5"/>
                </a:solidFill>
                <a:latin typeface="Aptos"/>
              </a:defRPr>
            </a:pPr>
            <a:r>
              <a:t>Use real ggplot2 outputs after running the RStudio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74720" cy="448056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448056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35607"/>
            <a:ext cx="3182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Target distribution (y)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3182112" cy="3913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Expected purpose: quantify the imbalance between “yes” and “no”. Exact values will come from 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971800"/>
            <a:ext cx="685800" cy="2194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852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5B6975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4663440"/>
            <a:ext cx="685800" cy="5029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52852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5B6975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325880"/>
            <a:ext cx="64008" cy="448056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435607"/>
            <a:ext cx="3182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Subscription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1801368"/>
            <a:ext cx="3182112" cy="3913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Priority charts: job vs y, education vs y, balance vs y, housing/loan vs y, contact vs y, poutcome vs 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3749040"/>
            <a:ext cx="438912" cy="41148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4160520"/>
            <a:ext cx="438912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59" y="3108960"/>
            <a:ext cx="438912" cy="59436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59" y="3703320"/>
            <a:ext cx="438912" cy="1463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3200400"/>
            <a:ext cx="438912" cy="82296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4023360"/>
            <a:ext cx="438912" cy="1143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92440" y="1325880"/>
            <a:ext cx="3474720" cy="448056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1325880"/>
            <a:ext cx="64008" cy="4480560"/>
          </a:xfrm>
          <a:prstGeom prst="rect">
            <a:avLst/>
          </a:prstGeom>
          <a:solidFill>
            <a:srgbClr val="EFA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435607"/>
            <a:ext cx="3182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Interpretation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1801368"/>
            <a:ext cx="3182112" cy="3913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Use proportions rather than raw counts when comparing categories. Watch duration carefully because it can leak post-call information.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2743200"/>
            <a:ext cx="2560320" cy="347472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2761488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3808B"/>
                </a:solidFill>
                <a:latin typeface="Aptos"/>
              </a:defRPr>
            </a:pPr>
            <a:r>
              <a:t>Proportion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3383280"/>
            <a:ext cx="2560320" cy="347472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3401568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B2545"/>
                </a:solidFill>
                <a:latin typeface="Aptos"/>
              </a:defRPr>
            </a:pPr>
            <a:r>
              <a:t>Relationship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9640" y="4023360"/>
            <a:ext cx="2560320" cy="347472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4041648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EFAE3E"/>
                </a:solidFill>
                <a:latin typeface="Aptos"/>
              </a:defRPr>
            </a:pPr>
            <a:r>
              <a:t>Leakage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Machine Learning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5"/>
                </a:solidFill>
                <a:latin typeface="Aptos"/>
              </a:defRPr>
            </a:pPr>
            <a:r>
              <a:t>Supervised learning • Binary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987552" cy="65836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75104"/>
            <a:ext cx="9875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90472" y="2203704"/>
            <a:ext cx="27432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73936" y="1874519"/>
            <a:ext cx="987552" cy="658368"/>
          </a:xfrm>
          <a:prstGeom prst="round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73936" y="1975104"/>
            <a:ext cx="9875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Preprocess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61488" y="2203704"/>
            <a:ext cx="27432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44952" y="1874519"/>
            <a:ext cx="987552" cy="658368"/>
          </a:xfrm>
          <a:prstGeom prst="round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1975104"/>
            <a:ext cx="9875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32504" y="2203704"/>
            <a:ext cx="27432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15968" y="1874519"/>
            <a:ext cx="987552" cy="658368"/>
          </a:xfrm>
          <a:prstGeom prst="round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975104"/>
            <a:ext cx="9875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Split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0" y="2203704"/>
            <a:ext cx="27432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86983" y="1874519"/>
            <a:ext cx="987552" cy="658368"/>
          </a:xfrm>
          <a:prstGeom prst="round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6983" y="1975104"/>
            <a:ext cx="9875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Train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74536" y="2203704"/>
            <a:ext cx="274319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7999" y="1874519"/>
            <a:ext cx="987552" cy="658368"/>
          </a:xfrm>
          <a:prstGeom prst="round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7999" y="1975104"/>
            <a:ext cx="9875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Predict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45551" y="2203704"/>
            <a:ext cx="27432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29016" y="1874519"/>
            <a:ext cx="987552" cy="658368"/>
          </a:xfrm>
          <a:prstGeom prst="round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9016" y="1975104"/>
            <a:ext cx="9875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Evaluate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16568" y="2203704"/>
            <a:ext cx="27432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400032" y="1874519"/>
            <a:ext cx="987552" cy="658368"/>
          </a:xfrm>
          <a:prstGeom prst="round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1975104"/>
            <a:ext cx="9875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Compare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387584" y="2203704"/>
            <a:ext cx="274320" cy="0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671048" y="1874519"/>
            <a:ext cx="987552" cy="65836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71048" y="1975104"/>
            <a:ext cx="9875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1546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3808B"/>
                </a:solidFill>
                <a:latin typeface="Aptos"/>
              </a:defRPr>
            </a:pPr>
            <a:r>
              <a:t>MODELS IN 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611880"/>
            <a:ext cx="342900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361188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" y="3721608"/>
            <a:ext cx="3136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" y="4087368"/>
            <a:ext cx="31363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Baseline • interpretable probabilities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3611880"/>
            <a:ext cx="3429000" cy="141732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361188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53712" y="3721608"/>
            <a:ext cx="3136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4087368"/>
            <a:ext cx="31363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Human-readable if/else rules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59" y="3611880"/>
            <a:ext cx="342900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59" y="361188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1" y="3721608"/>
            <a:ext cx="3136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1" y="4087368"/>
            <a:ext cx="31363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Ensemble of many trees • feature importance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5486400"/>
            <a:ext cx="1417320" cy="347472"/>
          </a:xfrm>
          <a:prstGeom prst="roundRect">
            <a:avLst/>
          </a:prstGeom>
          <a:solidFill>
            <a:srgbClr val="E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550468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B2545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548640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B6975"/>
                </a:solidFill>
                <a:latin typeface="Aptos"/>
              </a:defRPr>
            </a:pPr>
            <a:r>
              <a:t>vs.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486400"/>
            <a:ext cx="1417320" cy="347472"/>
          </a:xfrm>
          <a:prstGeom prst="roundRect">
            <a:avLst/>
          </a:prstGeom>
          <a:solidFill>
            <a:srgbClr val="EF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50468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B2545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Model Building in RStudio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5"/>
                </a:solidFill>
                <a:latin typeface="Aptos"/>
              </a:defRPr>
            </a:pPr>
            <a:r>
              <a:t>Packages are mapped to specific stages of 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64008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251960"/>
              </a:tblGrid>
              <a:tr h="5334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 package / function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in project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readr / base R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Import the semicolon-separated CSV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dplyr / tidyverse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Clean, transform, filter and summarise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ggplot2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EDA: bars, histograms, boxplots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caret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Stratified split, resampling, evaluation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glm()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rpart / rpart.plot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Decision Tree + visualisation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randomForest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pROC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ROC curve and AUC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60920" y="1325880"/>
            <a:ext cx="4251960" cy="109728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325880"/>
            <a:ext cx="64008" cy="109728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25512" y="1435607"/>
            <a:ext cx="3959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Training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1801368"/>
            <a:ext cx="3959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Known features X + known label y → model learns patterns.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64040" y="2487168"/>
            <a:ext cx="0" cy="393192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2971800"/>
            <a:ext cx="4251960" cy="109728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2971800"/>
            <a:ext cx="64008" cy="109728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3081528"/>
            <a:ext cx="3959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Cross-validation /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3447288"/>
            <a:ext cx="3959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Use training data only to improve generalisation and control overfitting.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64040" y="4133087"/>
            <a:ext cx="0" cy="393193"/>
          </a:xfrm>
          <a:prstGeom prst="line">
            <a:avLst/>
          </a:prstGeom>
          <a:ln w="27940">
            <a:solidFill>
              <a:srgbClr val="138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4617720"/>
            <a:ext cx="4251960" cy="109728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4617720"/>
            <a:ext cx="64008" cy="109728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4727448"/>
            <a:ext cx="3959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Unseen test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5093208"/>
            <a:ext cx="3959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predict() → compare predictions with actual y → evaluate.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5"/>
                </a:solidFill>
                <a:latin typeface="Aptos"/>
              </a:defRPr>
            </a:pPr>
            <a:r>
              <a:t>Actual + Predicted → Confusion Matrix →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48920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37360"/>
                <a:gridCol w="173736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No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Yes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Actual No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TN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FP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Actual Yes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TP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89320" y="1417320"/>
            <a:ext cx="2514600" cy="1024128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64008" cy="102412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527048"/>
            <a:ext cx="2221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1892808"/>
            <a:ext cx="2221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232D37"/>
                </a:solidFill>
                <a:latin typeface="Aptos"/>
              </a:defRPr>
            </a:pPr>
            <a:r>
              <a:t>Overall correct predictions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417320"/>
            <a:ext cx="2514600" cy="1024128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1417320"/>
            <a:ext cx="64008" cy="102412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1527048"/>
            <a:ext cx="2221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1892808"/>
            <a:ext cx="2221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232D37"/>
                </a:solidFill>
                <a:latin typeface="Aptos"/>
              </a:defRPr>
            </a:pPr>
            <a:r>
              <a:t>Of predicted “yes”, how many truly subscribed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679191"/>
            <a:ext cx="2514600" cy="1024128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2679191"/>
            <a:ext cx="64008" cy="102412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2788920"/>
            <a:ext cx="2221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3154679"/>
            <a:ext cx="2221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232D37"/>
                </a:solidFill>
                <a:latin typeface="Aptos"/>
              </a:defRPr>
            </a:pPr>
            <a:r>
              <a:t>Of actual subscribers, how many we found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2679191"/>
            <a:ext cx="2514600" cy="1024128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0" y="2679191"/>
            <a:ext cx="64008" cy="102412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2788920"/>
            <a:ext cx="2221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3154679"/>
            <a:ext cx="2221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232D37"/>
                </a:solidFill>
                <a:latin typeface="Aptos"/>
              </a:defRPr>
            </a:pPr>
            <a:r>
              <a:t>Balance between precision and recall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941063"/>
            <a:ext cx="2514600" cy="1024128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3941063"/>
            <a:ext cx="64008" cy="1024128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4050791"/>
            <a:ext cx="22219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4416552"/>
            <a:ext cx="2221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232D37"/>
                </a:solidFill>
                <a:latin typeface="Aptos"/>
              </a:defRPr>
            </a:pPr>
            <a:r>
              <a:t>Separation ability across thresholds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5257800"/>
            <a:ext cx="5532120" cy="713232"/>
          </a:xfrm>
          <a:prstGeom prst="roundRect">
            <a:avLst/>
          </a:prstGeom>
          <a:solidFill>
            <a:srgbClr val="FAF4EE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5257800"/>
            <a:ext cx="64008" cy="713232"/>
          </a:xfrm>
          <a:prstGeom prst="rect">
            <a:avLst/>
          </a:prstGeom>
          <a:solidFill>
            <a:srgbClr val="B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5367528"/>
            <a:ext cx="52395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Why accuracy alone is risky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5733288"/>
            <a:ext cx="52395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232D37"/>
                </a:solidFill>
                <a:latin typeface="Aptos"/>
              </a:defRPr>
            </a:pPr>
            <a:r>
              <a:t>If “no” dominates, an always-no model can look accurate while finding zero subscribers.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7947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3808B"/>
                </a:solidFill>
                <a:latin typeface="Aptos"/>
              </a:defRPr>
            </a:pPr>
            <a:r>
              <a:t>MODEL COMPARISON — TO BE FILLED AFTER MODEL EXECUTION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85800" y="4160520"/>
          <a:ext cx="4892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658368"/>
                <a:gridCol w="658368"/>
                <a:gridCol w="658368"/>
                <a:gridCol w="658368"/>
                <a:gridCol w="658368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Acc.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Prec.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AUC</a:t>
                      </a:r>
                    </a:p>
                  </a:txBody>
                  <a:tcPr marL="54864" marR="36576" marT="27432" marB="27432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Expected Results &amp; Business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975"/>
                </a:solidFill>
                <a:latin typeface="Aptos"/>
              </a:defRPr>
            </a:pPr>
            <a:r>
              <a:t>These are hypotheses until the RStudio models are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4754880" cy="114300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14300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35607"/>
            <a:ext cx="44622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Results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446227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D37"/>
                </a:solidFill>
                <a:latin typeface="Aptos"/>
              </a:defRPr>
            </a:pPr>
            <a:r>
              <a:t>Best Model: To be filled after model execution</a:t>
            </a:r>
            <a:br/>
            <a:r>
              <a:t>Accuracy: ___   Precision: ___   Recall: ___</a:t>
            </a:r>
            <a:br/>
            <a:r>
              <a:t>F1: ___   ROC-AUC: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3808B"/>
                </a:solidFill>
                <a:latin typeface="Aptos"/>
              </a:defRPr>
            </a:pPr>
            <a:r>
              <a:t>QUESTIONS THE ANALYSIS WILL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Which customer characteristics are associated with subscription?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Which model provides the strongest test-set performance?</a:t>
            </a:r>
          </a:p>
          <a:p>
            <a:pPr>
              <a:spcAft>
                <a:spcPts val="7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Which customers should the bank prioritise?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3258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3808B"/>
                </a:solidFill>
                <a:latin typeface="Aptos"/>
              </a:defRPr>
            </a:pPr>
            <a:r>
              <a:t>FROM MODEL OUTPUT TO BANK ACTION</a:t>
            </a:r>
          </a:p>
        </p:txBody>
      </p:sp>
      <p:sp>
        <p:nvSpPr>
          <p:cNvPr id="14" name="Oval 13"/>
          <p:cNvSpPr/>
          <p:nvPr/>
        </p:nvSpPr>
        <p:spPr>
          <a:xfrm>
            <a:off x="5989320" y="1828800"/>
            <a:ext cx="438912" cy="43891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837943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1051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2545"/>
                </a:solidFill>
                <a:latin typeface="Aptos"/>
              </a:defRPr>
            </a:pPr>
            <a:r>
              <a:t>Probability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1051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B6975"/>
                </a:solidFill>
                <a:latin typeface="Aptos"/>
              </a:defRPr>
            </a:pPr>
            <a:r>
              <a:t>Each customer gets a predicted likelihood.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2788920"/>
            <a:ext cx="438912" cy="43891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798063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7063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2545"/>
                </a:solidFill>
                <a:latin typeface="Aptos"/>
              </a:defRPr>
            </a:pPr>
            <a:r>
              <a:t>Rank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7063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B6975"/>
                </a:solidFill>
                <a:latin typeface="Aptos"/>
              </a:defRPr>
            </a:pPr>
            <a:r>
              <a:t>Sort prospects from high to low likelihood.</a:t>
            </a:r>
          </a:p>
        </p:txBody>
      </p:sp>
      <p:sp>
        <p:nvSpPr>
          <p:cNvPr id="22" name="Oval 21"/>
          <p:cNvSpPr/>
          <p:nvPr/>
        </p:nvSpPr>
        <p:spPr>
          <a:xfrm>
            <a:off x="5989320" y="3749039"/>
            <a:ext cx="438912" cy="43891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3758183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3075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2545"/>
                </a:solidFill>
                <a:latin typeface="Aptos"/>
              </a:defRPr>
            </a:pPr>
            <a:r>
              <a:t>Prioritise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3075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B6975"/>
                </a:solidFill>
                <a:latin typeface="Aptos"/>
              </a:defRPr>
            </a:pPr>
            <a:r>
              <a:t>Call high-probability customers first.</a:t>
            </a:r>
          </a:p>
        </p:txBody>
      </p:sp>
      <p:sp>
        <p:nvSpPr>
          <p:cNvPr id="26" name="Oval 25"/>
          <p:cNvSpPr/>
          <p:nvPr/>
        </p:nvSpPr>
        <p:spPr>
          <a:xfrm>
            <a:off x="5989320" y="4709160"/>
            <a:ext cx="438912" cy="438912"/>
          </a:xfrm>
          <a:prstGeom prst="ellipse">
            <a:avLst/>
          </a:prstGeom>
          <a:solidFill>
            <a:srgbClr val="EFA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4718304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69087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2545"/>
                </a:solidFill>
                <a:latin typeface="Aptos"/>
              </a:defRPr>
            </a:pPr>
            <a:r>
              <a:t>Reduce waste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69087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B6975"/>
                </a:solidFill>
                <a:latin typeface="Aptos"/>
              </a:defRPr>
            </a:pPr>
            <a:r>
              <a:t>Spend fewer resources on low-probability contacts.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5760720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32D37"/>
                </a:solidFill>
                <a:latin typeface="Aptos"/>
              </a:defRPr>
            </a:pPr>
            <a:r>
              <a:t>Top features: to be identified from EDA / model importance.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640080" cy="54864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Aptos Display"/>
              </a:defRPr>
            </a:pPr>
            <a:r>
              <a:t>Conclusion, 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380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233172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23317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5010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ACHIEVED / PROPOSED FOR REVIEW-1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5010912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• Clear banking problem and binary target</a:t>
            </a:r>
            <a:br/>
            <a:r>
              <a:t>• UCI Bank Marketing dataset identified</a:t>
            </a:r>
            <a:br/>
            <a:r>
              <a:t>• RStudio-based preprocessing and EDA plan</a:t>
            </a:r>
            <a:br/>
            <a:r>
              <a:t>• Classification models defined</a:t>
            </a:r>
            <a:br/>
            <a:r>
              <a:t>• Evaluation framework defined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9496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64008" cy="2331720"/>
          </a:xfrm>
          <a:prstGeom prst="rect">
            <a:avLst/>
          </a:prstGeom>
          <a:solidFill>
            <a:srgbClr val="B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435607"/>
            <a:ext cx="5102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LIMITATIONS TO REMEMBER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801368"/>
            <a:ext cx="5102352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• One Portuguese bank and older historical data</a:t>
            </a:r>
            <a:br/>
            <a:r>
              <a:t>• Class imbalance can bias predictions</a:t>
            </a:r>
            <a:br/>
            <a:r>
              <a:t>• Behaviour changes over time</a:t>
            </a:r>
            <a:br/>
            <a:r>
              <a:t>• Predictions are probabilities, not guarantees</a:t>
            </a:r>
            <a:br/>
            <a:r>
              <a:t>• duration may leak post-call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86200"/>
            <a:ext cx="530352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88620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95928"/>
            <a:ext cx="5010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1688"/>
            <a:ext cx="501091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D37"/>
                </a:solidFill>
                <a:latin typeface="Aptos"/>
              </a:defRPr>
            </a:pPr>
            <a:r>
              <a:t>Hyperparameter tuning • SMOTE / threshold tuning • boosting • feature engineering • segmentation • R Shiny • CRM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5394960" cy="1417320"/>
          </a:xfrm>
          <a:prstGeom prst="roundRect">
            <a:avLst/>
          </a:prstGeom>
          <a:solidFill>
            <a:srgbClr val="E2F3F4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64008" cy="1417320"/>
          </a:xfrm>
          <a:prstGeom prst="rect">
            <a:avLst/>
          </a:prstGeom>
          <a:solidFill>
            <a:srgbClr val="138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995928"/>
            <a:ext cx="5102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B2545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361688"/>
            <a:ext cx="51023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Use historical customer + campaign data in R to estimate subscription likelihood, evaluate models on unseen data, and support more focused marketing.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71500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975"/>
                </a:solidFill>
                <a:latin typeface="Aptos"/>
              </a:defRPr>
            </a:pPr>
            <a:r>
              <a:t>References: UCI Bank Marketing dataset (Moro, Cortez &amp; Rita, 2014) • Project Review Source 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05332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0B2545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  <a:latin typeface="Aptos"/>
              </a:defRPr>
            </a:pPr>
            <a:r>
              <a:t>Introduction to Data Science • R / RStudio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51052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5"/>
                </a:solidFill>
                <a:latin typeface="Aptos"/>
              </a:defRPr>
            </a:pPr>
            <a:r>
              <a:t>IDS Project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